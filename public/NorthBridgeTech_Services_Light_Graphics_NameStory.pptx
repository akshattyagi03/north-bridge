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adapted from the user-provided NorthBridgeTech_Services_Animated_Style_Deck.pptx.
- Visual on this slide was generated with Microsoft Copilot.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adapted from the user-provided NorthBridgeTech_Services_Animated_Style_Deck.pptx.
- Visual on this slide was generated with Microsoft Copilot.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adapted from the user-provided NorthBridgeTech_Services_Animated_Style_Deck.pptx.
- Visual on this slide was generated with Microsoft Copilot.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adapted from the user-provided NorthBridgeTech_Services_Animated_Style_Deck.pptx.
- Visual on this slide was generated with Microsoft Copilot.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adapted from the user-provided NorthBridgeTech_Services_Animated_Style_Deck.pptx.
- Visual on this slide was generated with Microsoft Copilot.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adapted from the user-provided NorthBridgeTech_Services_Animated_Style_Deck.pptx.
- Visual on this slide was generated with Microsoft Copilot.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adapted from the user-provided NorthBridgeTech_Services_Animated_Style_Deck.pptx.
- Visual on this slide was generated with Microsoft Copilot.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adapted from the user-provided NorthBridgeTech_Services_Animated_Style_Deck.pptx.
- Visual on this slide was generated with Microsoft Copilot.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adapted from the user-provided NorthBridgeTech_Services_Animated_Style_Deck.pptx.
- Visual on this slide was generated with Microsoft Copilot.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adapted from the user-provided NorthBridgeTech_Services_Animated_Style_Deck.pptx.
- Visual on this slide was generated with Microsoft Copilot.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adapted from the user-provided NorthBridgeTech_Services_Animated_Style_Deck.pptx.
- Visual on this slide was generated with Microsoft Copilot.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98BC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13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NORTHBRIDGE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10512" y="31089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98BCB"/>
                </a:solidFill>
              </a:rPr>
              <a:t>TECH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53657E"/>
                </a:solidFill>
              </a:rPr>
              <a:t>DIGITAL PRODUCT STUDIO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4712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3657E"/>
                </a:solidFill>
              </a:rPr>
              <a:t>01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02920" y="6446520"/>
            <a:ext cx="960120" cy="1"/>
          </a:xfrm>
          <a:prstGeom prst="line">
            <a:avLst/>
          </a:prstGeom>
          <a:noFill/>
          <a:ln w="12700">
            <a:solidFill>
              <a:srgbClr val="098BCB"/>
            </a:solidFill>
            <a:prstDash val="solid"/>
          </a:ln>
        </p:spPr>
      </p:sp>
      <p:pic>
        <p:nvPicPr>
          <p:cNvPr id="8" name="Image 0" descr="/mnt/data/2884836da5.png">    </p:cNvPr>
          <p:cNvPicPr>
            <a:picLocks noChangeAspect="1"/>
          </p:cNvPicPr>
          <p:nvPr/>
        </p:nvPicPr>
        <p:blipFill>
          <a:blip r:embed="rId1"/>
          <a:srcRect l="21200" r="21200" t="0" b="0"/>
          <a:stretch/>
        </p:blipFill>
        <p:spPr>
          <a:xfrm>
            <a:off x="6263640" y="0"/>
            <a:ext cx="5925312" cy="6858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577840" y="0"/>
            <a:ext cx="2468880" cy="68580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1252728"/>
            <a:ext cx="5715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13B"/>
                </a:solidFill>
              </a:rPr>
              <a:t>We build digital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0213B"/>
                </a:solidFill>
              </a:rPr>
              <a:t>solutions that move.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502920" y="290779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8BCB"/>
                </a:solidFill>
              </a:rPr>
              <a:t>From your idea to a scalable digital product.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02920" y="3456432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657E"/>
                </a:solidFill>
              </a:rPr>
              <a:t>Web  •  Mobile  •  Cloud  •  UI/UX  •  Integrations  •  Digital Marketing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02920" y="4178808"/>
            <a:ext cx="1874520" cy="274320"/>
          </a:xfrm>
          <a:prstGeom prst="roundRect">
            <a:avLst>
              <a:gd name="adj" fmla="val 20000"/>
            </a:avLst>
          </a:prstGeom>
          <a:solidFill>
            <a:srgbClr val="EAF4FF">
              <a:alpha val="95000"/>
            </a:srgbClr>
          </a:solidFill>
          <a:ln w="12700">
            <a:solidFill>
              <a:srgbClr val="C9D9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6072" y="4242816"/>
            <a:ext cx="1728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98BCB"/>
                </a:solidFill>
              </a:rPr>
              <a:t>northbridgetech.group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502920" y="48463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13B"/>
                </a:solidFill>
              </a:rPr>
              <a:t>Technology that bridges ideas and growth.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98BC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13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NORTHBRIDGE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10512" y="31089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98BCB"/>
                </a:solidFill>
              </a:rPr>
              <a:t>TECH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53657E"/>
                </a:solidFill>
              </a:rPr>
              <a:t>WHY NORTHBRIDGETECH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4712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3657E"/>
                </a:solidFill>
              </a:rPr>
              <a:t>02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02920" y="6446520"/>
            <a:ext cx="960120" cy="1"/>
          </a:xfrm>
          <a:prstGeom prst="line">
            <a:avLst/>
          </a:prstGeom>
          <a:noFill/>
          <a:ln w="12700">
            <a:solidFill>
              <a:srgbClr val="098B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33272"/>
            <a:ext cx="5897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13B"/>
                </a:solidFill>
              </a:rPr>
              <a:t>The idea behind our name.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1975104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57E"/>
                </a:solidFill>
              </a:rPr>
              <a:t>A technology name inspired by connection, speed and coordination.</a:t>
            </a:r>
            <a:endParaRPr lang="en-US" sz="1200" dirty="0"/>
          </a:p>
        </p:txBody>
      </p:sp>
      <p:pic>
        <p:nvPicPr>
          <p:cNvPr id="10" name="Image 0" descr="/mnt/data/8e40d40385.png">    </p:cNvPr>
          <p:cNvPicPr>
            <a:picLocks noChangeAspect="1"/>
          </p:cNvPicPr>
          <p:nvPr/>
        </p:nvPicPr>
        <p:blipFill>
          <a:blip r:embed="rId1"/>
          <a:srcRect l="18079" r="18079" t="0" b="0"/>
          <a:stretch/>
        </p:blipFill>
        <p:spPr>
          <a:xfrm>
            <a:off x="6537960" y="502920"/>
            <a:ext cx="5166360" cy="5394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2920" y="2697480"/>
            <a:ext cx="54406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C9D9EA"/>
            </a:solidFill>
            <a:prstDash val="solid"/>
          </a:ln>
          <a:effectLst>
            <a:outerShdw sx="100000" sy="100000" kx="0" ky="0" algn="bl" rotWithShape="0" blurRad="12700" dist="12700" dir="2700000">
              <a:srgbClr val="43729C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77240" y="2999232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13B"/>
                </a:solidFill>
              </a:rPr>
              <a:t>A northbridge is a legacy computer chip on a motherboard that handles high-speed tasks and manages communication between the CPU, system memory, and graphics cards.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77240" y="418795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098BCB"/>
                </a:solidFill>
              </a:rPr>
              <a:t>NORTH  •  BRIDGE  •  TECH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02920" y="4919472"/>
            <a:ext cx="5440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3657E"/>
                </a:solidFill>
              </a:rPr>
              <a:t>Our name reflects the same principle: connecting critical parts so technology can work together smoothly.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2920" y="5870448"/>
            <a:ext cx="3703320" cy="274320"/>
          </a:xfrm>
          <a:prstGeom prst="roundRect">
            <a:avLst>
              <a:gd name="adj" fmla="val 20000"/>
            </a:avLst>
          </a:prstGeom>
          <a:solidFill>
            <a:srgbClr val="EAF4FF">
              <a:alpha val="95000"/>
            </a:srgbClr>
          </a:solidFill>
          <a:ln w="12700">
            <a:solidFill>
              <a:srgbClr val="C9D9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6072" y="5934456"/>
            <a:ext cx="3557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98BCB"/>
                </a:solidFill>
              </a:rPr>
              <a:t>CONNECTION • PERFORMANCE • TECHNOLOGY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98BC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13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NORTHBRIDGE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10512" y="31089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98BCB"/>
                </a:solidFill>
              </a:rPr>
              <a:t>TECH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53657E"/>
                </a:solidFill>
              </a:rPr>
              <a:t>OUR SERVICES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4712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3657E"/>
                </a:solidFill>
              </a:rPr>
              <a:t>03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02920" y="6446520"/>
            <a:ext cx="960120" cy="1"/>
          </a:xfrm>
          <a:prstGeom prst="line">
            <a:avLst/>
          </a:prstGeom>
          <a:noFill/>
          <a:ln w="12700">
            <a:solidFill>
              <a:srgbClr val="098B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33272"/>
            <a:ext cx="5897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13B"/>
                </a:solidFill>
              </a:rPr>
              <a:t>One technology partner. Six capabilities.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1975104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57E"/>
                </a:solidFill>
              </a:rPr>
              <a:t>A complete digital service stack for businesses, entrepreneurs and personal brands.</a:t>
            </a:r>
            <a:endParaRPr lang="en-US" sz="1200" dirty="0"/>
          </a:p>
        </p:txBody>
      </p:sp>
      <p:pic>
        <p:nvPicPr>
          <p:cNvPr id="10" name="Image 0" descr="/mnt/data/c9b35d2f8a.png">    </p:cNvPr>
          <p:cNvPicPr>
            <a:picLocks noChangeAspect="1"/>
          </p:cNvPicPr>
          <p:nvPr/>
        </p:nvPicPr>
        <p:blipFill>
          <a:blip r:embed="rId1"/>
          <a:srcRect l="0" r="0" t="20146" b="20146"/>
          <a:stretch/>
        </p:blipFill>
        <p:spPr>
          <a:xfrm>
            <a:off x="7086600" y="475488"/>
            <a:ext cx="4709160" cy="18745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2920" y="2880360"/>
            <a:ext cx="1627632" cy="1234440"/>
          </a:xfrm>
          <a:prstGeom prst="roundRect">
            <a:avLst>
              <a:gd name="adj" fmla="val 3704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C9D9EA"/>
            </a:solidFill>
            <a:prstDash val="solid"/>
          </a:ln>
          <a:effectLst>
            <a:outerShdw sx="100000" sy="100000" kx="0" ky="0" algn="bl" rotWithShape="0" blurRad="12700" dist="12700" dir="2700000">
              <a:srgbClr val="43729C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30936" y="3008376"/>
            <a:ext cx="384048" cy="384048"/>
          </a:xfrm>
          <a:prstGeom prst="ellipse">
            <a:avLst/>
          </a:prstGeom>
          <a:solidFill>
            <a:srgbClr val="E9F6FF"/>
          </a:solidFill>
          <a:ln w="12700">
            <a:solidFill>
              <a:srgbClr val="098BC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30495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8BCB"/>
                </a:solidFill>
              </a:rPr>
              <a:t>⌘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30936" y="34838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0213B"/>
                </a:solidFill>
              </a:rPr>
              <a:t>Web Development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30936" y="377647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3657E"/>
                </a:solidFill>
              </a:rPr>
              <a:t>Websites • SaaS • E-commerce</a:t>
            </a:r>
            <a:endParaRPr lang="en-US" sz="720" dirty="0"/>
          </a:p>
        </p:txBody>
      </p:sp>
      <p:sp>
        <p:nvSpPr>
          <p:cNvPr id="16" name="Shape 13"/>
          <p:cNvSpPr/>
          <p:nvPr/>
        </p:nvSpPr>
        <p:spPr>
          <a:xfrm>
            <a:off x="2423160" y="2880360"/>
            <a:ext cx="1627632" cy="1234440"/>
          </a:xfrm>
          <a:prstGeom prst="roundRect">
            <a:avLst>
              <a:gd name="adj" fmla="val 3704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C9D9EA"/>
            </a:solidFill>
            <a:prstDash val="solid"/>
          </a:ln>
          <a:effectLst>
            <a:outerShdw sx="100000" sy="100000" kx="0" ky="0" algn="bl" rotWithShape="0" blurRad="12700" dist="12700" dir="2700000">
              <a:srgbClr val="43729C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551176" y="3008376"/>
            <a:ext cx="384048" cy="384048"/>
          </a:xfrm>
          <a:prstGeom prst="ellipse">
            <a:avLst/>
          </a:prstGeom>
          <a:solidFill>
            <a:srgbClr val="E9F6FF"/>
          </a:solidFill>
          <a:ln w="12700">
            <a:solidFill>
              <a:srgbClr val="098BC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06040" y="30495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8BCB"/>
                </a:solidFill>
              </a:rPr>
              <a:t>▣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551176" y="34838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0213B"/>
                </a:solidFill>
              </a:rPr>
              <a:t>Mobile Development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551176" y="377647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3657E"/>
                </a:solidFill>
              </a:rPr>
              <a:t>Apps • Cross-platform</a:t>
            </a:r>
            <a:endParaRPr lang="en-US" sz="720" dirty="0"/>
          </a:p>
        </p:txBody>
      </p:sp>
      <p:sp>
        <p:nvSpPr>
          <p:cNvPr id="21" name="Shape 18"/>
          <p:cNvSpPr/>
          <p:nvPr/>
        </p:nvSpPr>
        <p:spPr>
          <a:xfrm>
            <a:off x="4343400" y="2880360"/>
            <a:ext cx="1627632" cy="1234440"/>
          </a:xfrm>
          <a:prstGeom prst="roundRect">
            <a:avLst>
              <a:gd name="adj" fmla="val 3704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C9D9EA"/>
            </a:solidFill>
            <a:prstDash val="solid"/>
          </a:ln>
          <a:effectLst>
            <a:outerShdw sx="100000" sy="100000" kx="0" ky="0" algn="bl" rotWithShape="0" blurRad="12700" dist="12700" dir="2700000">
              <a:srgbClr val="43729C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471416" y="3008376"/>
            <a:ext cx="384048" cy="384048"/>
          </a:xfrm>
          <a:prstGeom prst="ellipse">
            <a:avLst/>
          </a:prstGeom>
          <a:solidFill>
            <a:srgbClr val="E9F6FF"/>
          </a:solidFill>
          <a:ln w="12700">
            <a:solidFill>
              <a:srgbClr val="098BC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30495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8BCB"/>
                </a:solidFill>
              </a:rPr>
              <a:t>☁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471416" y="34838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0213B"/>
                </a:solidFill>
              </a:rPr>
              <a:t>Cloud &amp; Deployment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471416" y="377647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3657E"/>
                </a:solidFill>
              </a:rPr>
              <a:t>Hosting • Maintenance</a:t>
            </a:r>
            <a:endParaRPr lang="en-US" sz="720" dirty="0"/>
          </a:p>
        </p:txBody>
      </p:sp>
      <p:sp>
        <p:nvSpPr>
          <p:cNvPr id="26" name="Shape 23"/>
          <p:cNvSpPr/>
          <p:nvPr/>
        </p:nvSpPr>
        <p:spPr>
          <a:xfrm>
            <a:off x="6263640" y="2880360"/>
            <a:ext cx="1627632" cy="1234440"/>
          </a:xfrm>
          <a:prstGeom prst="roundRect">
            <a:avLst>
              <a:gd name="adj" fmla="val 3704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C9D9EA"/>
            </a:solidFill>
            <a:prstDash val="solid"/>
          </a:ln>
          <a:effectLst>
            <a:outerShdw sx="100000" sy="100000" kx="0" ky="0" algn="bl" rotWithShape="0" blurRad="12700" dist="12700" dir="2700000">
              <a:srgbClr val="43729C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391656" y="3008376"/>
            <a:ext cx="384048" cy="384048"/>
          </a:xfrm>
          <a:prstGeom prst="ellipse">
            <a:avLst/>
          </a:prstGeom>
          <a:solidFill>
            <a:srgbClr val="E9F6FF"/>
          </a:solidFill>
          <a:ln w="12700">
            <a:solidFill>
              <a:srgbClr val="098BC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46520" y="30495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8BCB"/>
                </a:solidFill>
              </a:rPr>
              <a:t>✦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391656" y="34838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0213B"/>
                </a:solidFill>
              </a:rPr>
              <a:t>UI / UX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391656" y="377647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3657E"/>
                </a:solidFill>
              </a:rPr>
              <a:t>Figma • Prototyping</a:t>
            </a:r>
            <a:endParaRPr lang="en-US" sz="720" dirty="0"/>
          </a:p>
        </p:txBody>
      </p:sp>
      <p:sp>
        <p:nvSpPr>
          <p:cNvPr id="31" name="Shape 28"/>
          <p:cNvSpPr/>
          <p:nvPr/>
        </p:nvSpPr>
        <p:spPr>
          <a:xfrm>
            <a:off x="8183880" y="2880360"/>
            <a:ext cx="1627632" cy="1234440"/>
          </a:xfrm>
          <a:prstGeom prst="roundRect">
            <a:avLst>
              <a:gd name="adj" fmla="val 3704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C9D9EA"/>
            </a:solidFill>
            <a:prstDash val="solid"/>
          </a:ln>
          <a:effectLst>
            <a:outerShdw sx="100000" sy="100000" kx="0" ky="0" algn="bl" rotWithShape="0" blurRad="12700" dist="12700" dir="2700000">
              <a:srgbClr val="43729C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311896" y="3008376"/>
            <a:ext cx="384048" cy="384048"/>
          </a:xfrm>
          <a:prstGeom prst="ellipse">
            <a:avLst/>
          </a:prstGeom>
          <a:solidFill>
            <a:srgbClr val="E9F6FF"/>
          </a:solidFill>
          <a:ln w="12700">
            <a:solidFill>
              <a:srgbClr val="098BC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366760" y="30495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8BCB"/>
                </a:solidFill>
              </a:rPr>
              <a:t>↔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8311896" y="34838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0213B"/>
                </a:solidFill>
              </a:rPr>
              <a:t>Integrations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8311896" y="377647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3657E"/>
                </a:solidFill>
              </a:rPr>
              <a:t>APIs • Automation</a:t>
            </a:r>
            <a:endParaRPr lang="en-US" sz="720" dirty="0"/>
          </a:p>
        </p:txBody>
      </p:sp>
      <p:sp>
        <p:nvSpPr>
          <p:cNvPr id="36" name="Shape 33"/>
          <p:cNvSpPr/>
          <p:nvPr/>
        </p:nvSpPr>
        <p:spPr>
          <a:xfrm>
            <a:off x="10104120" y="2880360"/>
            <a:ext cx="1627632" cy="1234440"/>
          </a:xfrm>
          <a:prstGeom prst="roundRect">
            <a:avLst>
              <a:gd name="adj" fmla="val 3704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C9D9EA"/>
            </a:solidFill>
            <a:prstDash val="solid"/>
          </a:ln>
          <a:effectLst>
            <a:outerShdw sx="100000" sy="100000" kx="0" ky="0" algn="bl" rotWithShape="0" blurRad="12700" dist="12700" dir="2700000">
              <a:srgbClr val="43729C">
                <a:alpha val="12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10232136" y="3008376"/>
            <a:ext cx="384048" cy="384048"/>
          </a:xfrm>
          <a:prstGeom prst="ellipse">
            <a:avLst/>
          </a:prstGeom>
          <a:solidFill>
            <a:srgbClr val="E9F6FF"/>
          </a:solidFill>
          <a:ln w="12700">
            <a:solidFill>
              <a:srgbClr val="098BC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0287000" y="30495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8BCB"/>
                </a:solidFill>
              </a:rPr>
              <a:t>↗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10232136" y="34838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0213B"/>
                </a:solidFill>
              </a:rPr>
              <a:t>Digital Marketing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10232136" y="377647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3657E"/>
                </a:solidFill>
              </a:rPr>
              <a:t>Creative • Advertising</a:t>
            </a:r>
            <a:endParaRPr lang="en-US" sz="720" dirty="0"/>
          </a:p>
        </p:txBody>
      </p:sp>
      <p:sp>
        <p:nvSpPr>
          <p:cNvPr id="41" name="Shape 38"/>
          <p:cNvSpPr/>
          <p:nvPr/>
        </p:nvSpPr>
        <p:spPr>
          <a:xfrm>
            <a:off x="502920" y="4709160"/>
            <a:ext cx="3200400" cy="274320"/>
          </a:xfrm>
          <a:prstGeom prst="roundRect">
            <a:avLst>
              <a:gd name="adj" fmla="val 20000"/>
            </a:avLst>
          </a:prstGeom>
          <a:solidFill>
            <a:srgbClr val="EAF4FF">
              <a:alpha val="95000"/>
            </a:srgbClr>
          </a:solidFill>
          <a:ln w="12700">
            <a:solidFill>
              <a:srgbClr val="C9D9E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76072" y="4773168"/>
            <a:ext cx="3054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98BCB"/>
                </a:solidFill>
              </a:rPr>
              <a:t>STRATEGY • DESIGN • BUILD • GROW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98BC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13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NORTHBRIDGE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10512" y="31089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98BCB"/>
                </a:solidFill>
              </a:rPr>
              <a:t>TECH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53657E"/>
                </a:solidFill>
              </a:rPr>
              <a:t>01 — WEB DEVELOPMENT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4712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3657E"/>
                </a:solidFill>
              </a:rPr>
              <a:t>04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02920" y="6446520"/>
            <a:ext cx="960120" cy="1"/>
          </a:xfrm>
          <a:prstGeom prst="line">
            <a:avLst/>
          </a:prstGeom>
          <a:noFill/>
          <a:ln w="12700">
            <a:solidFill>
              <a:srgbClr val="098B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33272"/>
            <a:ext cx="5897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13B"/>
                </a:solidFill>
              </a:rPr>
              <a:t>Web experiences built around your needs.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1975104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57E"/>
                </a:solidFill>
              </a:rPr>
              <a:t>From a simple portfolio to a complex SaaS platform or online store.</a:t>
            </a:r>
            <a:endParaRPr lang="en-US" sz="1200" dirty="0"/>
          </a:p>
        </p:txBody>
      </p:sp>
      <p:pic>
        <p:nvPicPr>
          <p:cNvPr id="10" name="Image 0" descr="/mnt/data/c9b35d2f8a.png">    </p:cNvPr>
          <p:cNvPicPr>
            <a:picLocks noChangeAspect="1"/>
          </p:cNvPicPr>
          <p:nvPr/>
        </p:nvPicPr>
        <p:blipFill>
          <a:blip r:embed="rId1"/>
          <a:srcRect l="18946" r="18946" t="0" b="0"/>
          <a:stretch/>
        </p:blipFill>
        <p:spPr>
          <a:xfrm>
            <a:off x="6720840" y="502920"/>
            <a:ext cx="4983480" cy="53492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720840" y="502920"/>
            <a:ext cx="4983480" cy="5349240"/>
          </a:xfrm>
          <a:prstGeom prst="roundRect">
            <a:avLst>
              <a:gd name="adj" fmla="val 1284"/>
            </a:avLst>
          </a:prstGeom>
          <a:solidFill>
            <a:srgbClr val="FFFFFF">
              <a:alpha val="0"/>
            </a:srgbClr>
          </a:solidFill>
          <a:ln w="12700">
            <a:solidFill>
              <a:srgbClr val="C9D9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743200"/>
            <a:ext cx="384048" cy="384048"/>
          </a:xfrm>
          <a:prstGeom prst="ellipse">
            <a:avLst/>
          </a:prstGeom>
          <a:solidFill>
            <a:srgbClr val="E9F6FF"/>
          </a:solidFill>
          <a:ln w="12700">
            <a:solidFill>
              <a:srgbClr val="098BC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7784" y="27843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8BCB"/>
                </a:solidFill>
              </a:rPr>
              <a:t>◇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24128" y="2724912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13B"/>
                </a:solidFill>
              </a:rPr>
              <a:t>System Designing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24128" y="3026664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57E"/>
                </a:solidFill>
              </a:rPr>
              <a:t>Architecture planning • Business workflow mapping • Scalable foundations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02920" y="3730752"/>
            <a:ext cx="384048" cy="384048"/>
          </a:xfrm>
          <a:prstGeom prst="ellipse">
            <a:avLst/>
          </a:prstGeom>
          <a:solidFill>
            <a:srgbClr val="E9F6FF"/>
          </a:solidFill>
          <a:ln w="12700">
            <a:solidFill>
              <a:srgbClr val="098BC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7784" y="37719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8BCB"/>
                </a:solidFill>
              </a:rPr>
              <a:t>⌘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024128" y="3712464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13B"/>
                </a:solidFill>
              </a:rPr>
              <a:t>Custom Software &amp; SaaS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24128" y="4014216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57E"/>
                </a:solidFill>
              </a:rPr>
              <a:t>Tailored functionality • Subscription products • Business-specific systems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02920" y="4718304"/>
            <a:ext cx="384048" cy="384048"/>
          </a:xfrm>
          <a:prstGeom prst="ellipse">
            <a:avLst/>
          </a:prstGeom>
          <a:solidFill>
            <a:srgbClr val="E9F6FF"/>
          </a:solidFill>
          <a:ln w="12700">
            <a:solidFill>
              <a:srgbClr val="098BC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7784" y="47594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8BCB"/>
                </a:solidFill>
              </a:rPr>
              <a:t>▤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024128" y="4700016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13B"/>
                </a:solidFill>
              </a:rPr>
              <a:t>Websites &amp; E-commerce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24128" y="500176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57E"/>
                </a:solidFill>
              </a:rPr>
              <a:t>Company &amp; personal portfolios • Online stores • Responsive experiences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02920" y="5870448"/>
            <a:ext cx="3840480" cy="274320"/>
          </a:xfrm>
          <a:prstGeom prst="roundRect">
            <a:avLst>
              <a:gd name="adj" fmla="val 20000"/>
            </a:avLst>
          </a:prstGeom>
          <a:solidFill>
            <a:srgbClr val="EAF4FF">
              <a:alpha val="95000"/>
            </a:srgbClr>
          </a:solidFill>
          <a:ln w="12700">
            <a:solidFill>
              <a:srgbClr val="C9D9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6072" y="5934456"/>
            <a:ext cx="3694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98BCB"/>
                </a:solidFill>
              </a:rPr>
              <a:t>DESIGNED • DEVELOPED • READY TO GROW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98BC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13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NORTHBRIDGE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10512" y="31089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98BCB"/>
                </a:solidFill>
              </a:rPr>
              <a:t>TECH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53657E"/>
                </a:solidFill>
              </a:rPr>
              <a:t>02 — MOBILE DEVELOPMENT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4712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3657E"/>
                </a:solidFill>
              </a:rPr>
              <a:t>05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02920" y="6446520"/>
            <a:ext cx="960120" cy="1"/>
          </a:xfrm>
          <a:prstGeom prst="line">
            <a:avLst/>
          </a:prstGeom>
          <a:noFill/>
          <a:ln w="12700">
            <a:solidFill>
              <a:srgbClr val="098B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33272"/>
            <a:ext cx="5897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13B"/>
                </a:solidFill>
              </a:rPr>
              <a:t>Your product, wherever your users are.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1975104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57E"/>
                </a:solidFill>
              </a:rPr>
              <a:t>Mobile applications designed for real-world usability and cross-platform reach.</a:t>
            </a:r>
            <a:endParaRPr lang="en-US" sz="1200" dirty="0"/>
          </a:p>
        </p:txBody>
      </p:sp>
      <p:pic>
        <p:nvPicPr>
          <p:cNvPr id="10" name="Image 0" descr="/mnt/data/ca32bc4dc7.png">    </p:cNvPr>
          <p:cNvPicPr>
            <a:picLocks noChangeAspect="1"/>
          </p:cNvPicPr>
          <p:nvPr/>
        </p:nvPicPr>
        <p:blipFill>
          <a:blip r:embed="rId1"/>
          <a:srcRect l="18946" r="18946" t="0" b="0"/>
          <a:stretch/>
        </p:blipFill>
        <p:spPr>
          <a:xfrm>
            <a:off x="6720840" y="502920"/>
            <a:ext cx="4983480" cy="53492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720840" y="502920"/>
            <a:ext cx="4983480" cy="5349240"/>
          </a:xfrm>
          <a:prstGeom prst="roundRect">
            <a:avLst>
              <a:gd name="adj" fmla="val 1284"/>
            </a:avLst>
          </a:prstGeom>
          <a:solidFill>
            <a:srgbClr val="FFFFFF">
              <a:alpha val="0"/>
            </a:srgbClr>
          </a:solidFill>
          <a:ln w="12700">
            <a:solidFill>
              <a:srgbClr val="C9D9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743200"/>
            <a:ext cx="384048" cy="384048"/>
          </a:xfrm>
          <a:prstGeom prst="ellipse">
            <a:avLst/>
          </a:prstGeom>
          <a:solidFill>
            <a:srgbClr val="E9F6FF"/>
          </a:solidFill>
          <a:ln w="12700">
            <a:solidFill>
              <a:srgbClr val="098BC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7784" y="27843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8BCB"/>
                </a:solidFill>
              </a:rPr>
              <a:t>▱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24128" y="2724912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13B"/>
                </a:solidFill>
              </a:rPr>
              <a:t>System Designing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24128" y="3026664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57E"/>
                </a:solidFill>
              </a:rPr>
              <a:t>App architecture • User flows &amp; business logic • Scalable structure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02920" y="3730752"/>
            <a:ext cx="384048" cy="384048"/>
          </a:xfrm>
          <a:prstGeom prst="ellipse">
            <a:avLst/>
          </a:prstGeom>
          <a:solidFill>
            <a:srgbClr val="E9F6FF"/>
          </a:solidFill>
          <a:ln w="12700">
            <a:solidFill>
              <a:srgbClr val="098BC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7784" y="37719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8BCB"/>
                </a:solidFill>
              </a:rPr>
              <a:t>◫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024128" y="3712464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13B"/>
                </a:solidFill>
              </a:rPr>
              <a:t>Custom Apps &amp; SaaS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24128" y="4014216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57E"/>
                </a:solidFill>
              </a:rPr>
              <a:t>Tailored features • Business applications • Subscription products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02920" y="4718304"/>
            <a:ext cx="384048" cy="384048"/>
          </a:xfrm>
          <a:prstGeom prst="ellipse">
            <a:avLst/>
          </a:prstGeom>
          <a:solidFill>
            <a:srgbClr val="E9F6FF"/>
          </a:solidFill>
          <a:ln w="12700">
            <a:solidFill>
              <a:srgbClr val="098BC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7784" y="47594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8BCB"/>
                </a:solidFill>
              </a:rPr>
              <a:t>↔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024128" y="4700016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13B"/>
                </a:solidFill>
              </a:rPr>
              <a:t>E-commerce &amp; Cross-platform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24128" y="500176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57E"/>
                </a:solidFill>
              </a:rPr>
              <a:t>Mobile commerce • iOS + Android strategy • Consistent experience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02920" y="5870448"/>
            <a:ext cx="3840480" cy="274320"/>
          </a:xfrm>
          <a:prstGeom prst="roundRect">
            <a:avLst>
              <a:gd name="adj" fmla="val 20000"/>
            </a:avLst>
          </a:prstGeom>
          <a:solidFill>
            <a:srgbClr val="EAF4FF">
              <a:alpha val="95000"/>
            </a:srgbClr>
          </a:solidFill>
          <a:ln w="12700">
            <a:solidFill>
              <a:srgbClr val="C9D9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6072" y="5934456"/>
            <a:ext cx="3694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98BCB"/>
                </a:solidFill>
              </a:rPr>
              <a:t>ONE PRODUCT • MULTIPLE PLATFORMS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98BC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13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NORTHBRIDGE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10512" y="31089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98BCB"/>
                </a:solidFill>
              </a:rPr>
              <a:t>TECH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53657E"/>
                </a:solidFill>
              </a:rPr>
              <a:t>03 — DEPLOYMENT &amp; CLOUD SERVICES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4712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3657E"/>
                </a:solidFill>
              </a:rPr>
              <a:t>06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02920" y="6446520"/>
            <a:ext cx="960120" cy="1"/>
          </a:xfrm>
          <a:prstGeom prst="line">
            <a:avLst/>
          </a:prstGeom>
          <a:noFill/>
          <a:ln w="12700">
            <a:solidFill>
              <a:srgbClr val="098B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33272"/>
            <a:ext cx="5897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13B"/>
                </a:solidFill>
              </a:rPr>
              <a:t>Launch with confidence. Stay online.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1975104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57E"/>
                </a:solidFill>
              </a:rPr>
              <a:t>We help deploy, maintain and support your digital products in the cloud.</a:t>
            </a:r>
            <a:endParaRPr lang="en-US" sz="1200" dirty="0"/>
          </a:p>
        </p:txBody>
      </p:sp>
      <p:pic>
        <p:nvPicPr>
          <p:cNvPr id="10" name="Image 0" descr="/mnt/data/aff356e3de.png">    </p:cNvPr>
          <p:cNvPicPr>
            <a:picLocks noChangeAspect="1"/>
          </p:cNvPicPr>
          <p:nvPr/>
        </p:nvPicPr>
        <p:blipFill>
          <a:blip r:embed="rId1"/>
          <a:srcRect l="18946" r="18946" t="0" b="0"/>
          <a:stretch/>
        </p:blipFill>
        <p:spPr>
          <a:xfrm>
            <a:off x="6720840" y="502920"/>
            <a:ext cx="4983480" cy="53492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720840" y="502920"/>
            <a:ext cx="4983480" cy="5349240"/>
          </a:xfrm>
          <a:prstGeom prst="roundRect">
            <a:avLst>
              <a:gd name="adj" fmla="val 1284"/>
            </a:avLst>
          </a:prstGeom>
          <a:solidFill>
            <a:srgbClr val="FFFFFF">
              <a:alpha val="0"/>
            </a:srgbClr>
          </a:solidFill>
          <a:ln w="12700">
            <a:solidFill>
              <a:srgbClr val="C9D9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743200"/>
            <a:ext cx="384048" cy="384048"/>
          </a:xfrm>
          <a:prstGeom prst="ellipse">
            <a:avLst/>
          </a:prstGeom>
          <a:solidFill>
            <a:srgbClr val="E9F6FF"/>
          </a:solidFill>
          <a:ln w="12700">
            <a:solidFill>
              <a:srgbClr val="098BC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7784" y="27843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8BCB"/>
                </a:solidFill>
              </a:rPr>
              <a:t>↗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24128" y="2724912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13B"/>
                </a:solidFill>
              </a:rPr>
              <a:t>Deployment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24128" y="3026664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57E"/>
                </a:solidFill>
              </a:rPr>
              <a:t>Website deployment • Application releases • Production setup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02920" y="3730752"/>
            <a:ext cx="384048" cy="384048"/>
          </a:xfrm>
          <a:prstGeom prst="ellipse">
            <a:avLst/>
          </a:prstGeom>
          <a:solidFill>
            <a:srgbClr val="E9F6FF"/>
          </a:solidFill>
          <a:ln w="12700">
            <a:solidFill>
              <a:srgbClr val="098BC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7784" y="37719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8BCB"/>
                </a:solidFill>
              </a:rPr>
              <a:t>☁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024128" y="3712464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13B"/>
                </a:solidFill>
              </a:rPr>
              <a:t>Cloud Services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24128" y="4014216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57E"/>
                </a:solidFill>
              </a:rPr>
              <a:t>Cloud infrastructure • Scalable environments • Performance-focused setup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02920" y="4718304"/>
            <a:ext cx="384048" cy="384048"/>
          </a:xfrm>
          <a:prstGeom prst="ellipse">
            <a:avLst/>
          </a:prstGeom>
          <a:solidFill>
            <a:srgbClr val="E9F6FF"/>
          </a:solidFill>
          <a:ln w="12700">
            <a:solidFill>
              <a:srgbClr val="098BC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7784" y="47594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8BCB"/>
                </a:solidFill>
              </a:rPr>
              <a:t>⟳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024128" y="4700016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13B"/>
                </a:solidFill>
              </a:rPr>
              <a:t>Maintenance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24128" y="500176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57E"/>
                </a:solidFill>
              </a:rPr>
              <a:t>Updates &amp; monitoring • Issue resolution • Ongoing technical support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02920" y="5870448"/>
            <a:ext cx="3840480" cy="274320"/>
          </a:xfrm>
          <a:prstGeom prst="roundRect">
            <a:avLst>
              <a:gd name="adj" fmla="val 20000"/>
            </a:avLst>
          </a:prstGeom>
          <a:solidFill>
            <a:srgbClr val="EAF4FF">
              <a:alpha val="95000"/>
            </a:srgbClr>
          </a:solidFill>
          <a:ln w="12700">
            <a:solidFill>
              <a:srgbClr val="C9D9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6072" y="5934456"/>
            <a:ext cx="3694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98BCB"/>
                </a:solidFill>
              </a:rPr>
              <a:t>DEPLOY • MONITOR • MAINTAIN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98BC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13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NORTHBRIDGE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10512" y="31089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98BCB"/>
                </a:solidFill>
              </a:rPr>
              <a:t>TECH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53657E"/>
                </a:solidFill>
              </a:rPr>
              <a:t>04 — UI / UX DESIGN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4712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3657E"/>
                </a:solidFill>
              </a:rPr>
              <a:t>07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02920" y="6446520"/>
            <a:ext cx="960120" cy="1"/>
          </a:xfrm>
          <a:prstGeom prst="line">
            <a:avLst/>
          </a:prstGeom>
          <a:noFill/>
          <a:ln w="12700">
            <a:solidFill>
              <a:srgbClr val="098B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33272"/>
            <a:ext cx="5897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13B"/>
                </a:solidFill>
              </a:rPr>
              <a:t>Make every interaction feel intentional.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1975104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57E"/>
                </a:solidFill>
              </a:rPr>
              <a:t>We turn ideas into clear, modern interfaces using Figma and relevant design tools.</a:t>
            </a:r>
            <a:endParaRPr lang="en-US" sz="1200" dirty="0"/>
          </a:p>
        </p:txBody>
      </p:sp>
      <p:pic>
        <p:nvPicPr>
          <p:cNvPr id="10" name="Image 0" descr="/mnt/data/f7d30a89bb.png">    </p:cNvPr>
          <p:cNvPicPr>
            <a:picLocks noChangeAspect="1"/>
          </p:cNvPicPr>
          <p:nvPr/>
        </p:nvPicPr>
        <p:blipFill>
          <a:blip r:embed="rId1"/>
          <a:srcRect l="18946" r="18946" t="0" b="0"/>
          <a:stretch/>
        </p:blipFill>
        <p:spPr>
          <a:xfrm>
            <a:off x="6720840" y="502920"/>
            <a:ext cx="4983480" cy="53492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720840" y="502920"/>
            <a:ext cx="4983480" cy="5349240"/>
          </a:xfrm>
          <a:prstGeom prst="roundRect">
            <a:avLst>
              <a:gd name="adj" fmla="val 1284"/>
            </a:avLst>
          </a:prstGeom>
          <a:solidFill>
            <a:srgbClr val="FFFFFF">
              <a:alpha val="0"/>
            </a:srgbClr>
          </a:solidFill>
          <a:ln w="12700">
            <a:solidFill>
              <a:srgbClr val="C9D9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743200"/>
            <a:ext cx="384048" cy="384048"/>
          </a:xfrm>
          <a:prstGeom prst="ellipse">
            <a:avLst/>
          </a:prstGeom>
          <a:solidFill>
            <a:srgbClr val="E9F6FF"/>
          </a:solidFill>
          <a:ln w="12700">
            <a:solidFill>
              <a:srgbClr val="098BC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7784" y="27843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8BCB"/>
                </a:solidFill>
              </a:rPr>
              <a:t>◎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24128" y="2724912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13B"/>
                </a:solidFill>
              </a:rPr>
              <a:t>User Experience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24128" y="3026664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57E"/>
                </a:solidFill>
              </a:rPr>
              <a:t>User flows • Information architecture • Wireframes &amp; journeys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02920" y="3730752"/>
            <a:ext cx="384048" cy="384048"/>
          </a:xfrm>
          <a:prstGeom prst="ellipse">
            <a:avLst/>
          </a:prstGeom>
          <a:solidFill>
            <a:srgbClr val="E9F6FF"/>
          </a:solidFill>
          <a:ln w="12700">
            <a:solidFill>
              <a:srgbClr val="098BC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7784" y="37719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8BCB"/>
                </a:solidFill>
              </a:rPr>
              <a:t>✦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024128" y="3712464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13B"/>
                </a:solidFill>
              </a:rPr>
              <a:t>Interface Design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24128" y="4014216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57E"/>
                </a:solidFill>
              </a:rPr>
              <a:t>Modern UI systems • Responsive screens • Design consistency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02920" y="4718304"/>
            <a:ext cx="384048" cy="384048"/>
          </a:xfrm>
          <a:prstGeom prst="ellipse">
            <a:avLst/>
          </a:prstGeom>
          <a:solidFill>
            <a:srgbClr val="E9F6FF"/>
          </a:solidFill>
          <a:ln w="12700">
            <a:solidFill>
              <a:srgbClr val="098BC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7784" y="47594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8BCB"/>
                </a:solidFill>
              </a:rPr>
              <a:t>▷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024128" y="4700016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13B"/>
                </a:solidFill>
              </a:rPr>
              <a:t>Prototype &amp; Handoff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24128" y="500176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57E"/>
                </a:solidFill>
              </a:rPr>
              <a:t>Figma prototypes • Interactive demonstrations • Developer-ready designs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02920" y="5870448"/>
            <a:ext cx="3840480" cy="274320"/>
          </a:xfrm>
          <a:prstGeom prst="roundRect">
            <a:avLst>
              <a:gd name="adj" fmla="val 20000"/>
            </a:avLst>
          </a:prstGeom>
          <a:solidFill>
            <a:srgbClr val="EAF4FF">
              <a:alpha val="95000"/>
            </a:srgbClr>
          </a:solidFill>
          <a:ln w="12700">
            <a:solidFill>
              <a:srgbClr val="C9D9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6072" y="5934456"/>
            <a:ext cx="3694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98BCB"/>
                </a:solidFill>
              </a:rPr>
              <a:t>IDEA → WIREFRAME → PROTOTYPE → UI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98BC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13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NORTHBRIDGE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10512" y="31089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98BCB"/>
                </a:solidFill>
              </a:rPr>
              <a:t>TECH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53657E"/>
                </a:solidFill>
              </a:rPr>
              <a:t>05 — INTEGRATIONS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4712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3657E"/>
                </a:solidFill>
              </a:rPr>
              <a:t>08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02920" y="6446520"/>
            <a:ext cx="960120" cy="1"/>
          </a:xfrm>
          <a:prstGeom prst="line">
            <a:avLst/>
          </a:prstGeom>
          <a:noFill/>
          <a:ln w="12700">
            <a:solidFill>
              <a:srgbClr val="098B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33272"/>
            <a:ext cx="5897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13B"/>
                </a:solidFill>
              </a:rPr>
              <a:t>Connect your tools. Simplify your workflow.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1975104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57E"/>
                </a:solidFill>
              </a:rPr>
              <a:t>We integrate external services so your systems can communicate seamlessly.</a:t>
            </a:r>
            <a:endParaRPr lang="en-US" sz="1200" dirty="0"/>
          </a:p>
        </p:txBody>
      </p:sp>
      <p:pic>
        <p:nvPicPr>
          <p:cNvPr id="10" name="Image 0" descr="/mnt/data/c90f842b2c.png">    </p:cNvPr>
          <p:cNvPicPr>
            <a:picLocks noChangeAspect="1"/>
          </p:cNvPicPr>
          <p:nvPr/>
        </p:nvPicPr>
        <p:blipFill>
          <a:blip r:embed="rId1"/>
          <a:srcRect l="18946" r="18946" t="0" b="0"/>
          <a:stretch/>
        </p:blipFill>
        <p:spPr>
          <a:xfrm>
            <a:off x="6720840" y="502920"/>
            <a:ext cx="4983480" cy="53492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720840" y="502920"/>
            <a:ext cx="4983480" cy="5349240"/>
          </a:xfrm>
          <a:prstGeom prst="roundRect">
            <a:avLst>
              <a:gd name="adj" fmla="val 1284"/>
            </a:avLst>
          </a:prstGeom>
          <a:solidFill>
            <a:srgbClr val="FFFFFF">
              <a:alpha val="0"/>
            </a:srgbClr>
          </a:solidFill>
          <a:ln w="12700">
            <a:solidFill>
              <a:srgbClr val="C9D9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743200"/>
            <a:ext cx="384048" cy="384048"/>
          </a:xfrm>
          <a:prstGeom prst="ellipse">
            <a:avLst/>
          </a:prstGeom>
          <a:solidFill>
            <a:srgbClr val="E9F6FF"/>
          </a:solidFill>
          <a:ln w="12700">
            <a:solidFill>
              <a:srgbClr val="098BC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7784" y="27843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8BCB"/>
                </a:solidFill>
              </a:rPr>
              <a:t>↔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24128" y="2724912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13B"/>
                </a:solidFill>
              </a:rPr>
              <a:t>API Integration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24128" y="3026664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57E"/>
                </a:solidFill>
              </a:rPr>
              <a:t>Connect external platforms • Data exchange • Custom API workflows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02920" y="3730752"/>
            <a:ext cx="384048" cy="384048"/>
          </a:xfrm>
          <a:prstGeom prst="ellipse">
            <a:avLst/>
          </a:prstGeom>
          <a:solidFill>
            <a:srgbClr val="E9F6FF"/>
          </a:solidFill>
          <a:ln w="12700">
            <a:solidFill>
              <a:srgbClr val="098BC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7784" y="37719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8BCB"/>
                </a:solidFill>
              </a:rPr>
              <a:t>⬡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024128" y="3712464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13B"/>
                </a:solidFill>
              </a:rPr>
              <a:t>Third-party Services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24128" y="4014216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57E"/>
                </a:solidFill>
              </a:rPr>
              <a:t>Payments • Communication tools • Business platforms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02920" y="4718304"/>
            <a:ext cx="384048" cy="384048"/>
          </a:xfrm>
          <a:prstGeom prst="ellipse">
            <a:avLst/>
          </a:prstGeom>
          <a:solidFill>
            <a:srgbClr val="E9F6FF"/>
          </a:solidFill>
          <a:ln w="12700">
            <a:solidFill>
              <a:srgbClr val="098BC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7784" y="47594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8BCB"/>
                </a:solidFill>
              </a:rPr>
              <a:t>⚙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024128" y="4700016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13B"/>
                </a:solidFill>
              </a:rPr>
              <a:t>Automation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24128" y="500176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57E"/>
                </a:solidFill>
              </a:rPr>
              <a:t>Reduce repetitive work • Sync information • Streamline operations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02920" y="5870448"/>
            <a:ext cx="3840480" cy="274320"/>
          </a:xfrm>
          <a:prstGeom prst="roundRect">
            <a:avLst>
              <a:gd name="adj" fmla="val 20000"/>
            </a:avLst>
          </a:prstGeom>
          <a:solidFill>
            <a:srgbClr val="EAF4FF">
              <a:alpha val="95000"/>
            </a:srgbClr>
          </a:solidFill>
          <a:ln w="12700">
            <a:solidFill>
              <a:srgbClr val="C9D9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6072" y="5934456"/>
            <a:ext cx="3694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98BCB"/>
                </a:solidFill>
              </a:rPr>
              <a:t>CONNECT • SYNC • AUTOMATE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98BC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13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NORTHBRIDGE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10512" y="31089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98BCB"/>
                </a:solidFill>
              </a:rPr>
              <a:t>TECH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53657E"/>
                </a:solidFill>
              </a:rPr>
              <a:t>06 — DIGITAL MARKETING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4712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3657E"/>
                </a:solidFill>
              </a:rPr>
              <a:t>09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02920" y="6446520"/>
            <a:ext cx="960120" cy="1"/>
          </a:xfrm>
          <a:prstGeom prst="line">
            <a:avLst/>
          </a:prstGeom>
          <a:noFill/>
          <a:ln w="12700">
            <a:solidFill>
              <a:srgbClr val="098B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33272"/>
            <a:ext cx="5897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13B"/>
                </a:solidFill>
              </a:rPr>
              <a:t>Turn attention into a stronger digital presence.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1975104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57E"/>
                </a:solidFill>
              </a:rPr>
              <a:t>Creative marketing assets and digital communication designed around your brand.</a:t>
            </a:r>
            <a:endParaRPr lang="en-US" sz="1200" dirty="0"/>
          </a:p>
        </p:txBody>
      </p:sp>
      <p:pic>
        <p:nvPicPr>
          <p:cNvPr id="10" name="Image 0" descr="/mnt/data/a3e2296ef1.png">    </p:cNvPr>
          <p:cNvPicPr>
            <a:picLocks noChangeAspect="1"/>
          </p:cNvPicPr>
          <p:nvPr/>
        </p:nvPicPr>
        <p:blipFill>
          <a:blip r:embed="rId1"/>
          <a:srcRect l="18946" r="18946" t="0" b="0"/>
          <a:stretch/>
        </p:blipFill>
        <p:spPr>
          <a:xfrm>
            <a:off x="6720840" y="502920"/>
            <a:ext cx="4983480" cy="53492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720840" y="502920"/>
            <a:ext cx="4983480" cy="5349240"/>
          </a:xfrm>
          <a:prstGeom prst="roundRect">
            <a:avLst>
              <a:gd name="adj" fmla="val 1284"/>
            </a:avLst>
          </a:prstGeom>
          <a:solidFill>
            <a:srgbClr val="FFFFFF">
              <a:alpha val="0"/>
            </a:srgbClr>
          </a:solidFill>
          <a:ln w="12700">
            <a:solidFill>
              <a:srgbClr val="C9D9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743200"/>
            <a:ext cx="384048" cy="384048"/>
          </a:xfrm>
          <a:prstGeom prst="ellipse">
            <a:avLst/>
          </a:prstGeom>
          <a:solidFill>
            <a:srgbClr val="E9F6FF"/>
          </a:solidFill>
          <a:ln w="12700">
            <a:solidFill>
              <a:srgbClr val="098BC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7784" y="27843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8BCB"/>
                </a:solidFill>
              </a:rPr>
              <a:t>▣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24128" y="2724912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13B"/>
                </a:solidFill>
              </a:rPr>
              <a:t>Instagram Profile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24128" y="3026664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57E"/>
                </a:solidFill>
              </a:rPr>
              <a:t>Profile setup &amp; optimisation • Visual consistency • Content-ready presence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02920" y="3730752"/>
            <a:ext cx="384048" cy="384048"/>
          </a:xfrm>
          <a:prstGeom prst="ellipse">
            <a:avLst/>
          </a:prstGeom>
          <a:solidFill>
            <a:srgbClr val="E9F6FF"/>
          </a:solidFill>
          <a:ln w="12700">
            <a:solidFill>
              <a:srgbClr val="098BC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7784" y="37719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8BCB"/>
                </a:solidFill>
              </a:rPr>
              <a:t>✦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024128" y="3712464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13B"/>
                </a:solidFill>
              </a:rPr>
              <a:t>Flyers &amp; Creatives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24128" y="4014216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57E"/>
                </a:solidFill>
              </a:rPr>
              <a:t>Company flyers • Promotional designs • Social media creatives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02920" y="4718304"/>
            <a:ext cx="384048" cy="384048"/>
          </a:xfrm>
          <a:prstGeom prst="ellipse">
            <a:avLst/>
          </a:prstGeom>
          <a:solidFill>
            <a:srgbClr val="E9F6FF"/>
          </a:solidFill>
          <a:ln w="12700">
            <a:solidFill>
              <a:srgbClr val="098BC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7784" y="47594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8BCB"/>
                </a:solidFill>
              </a:rPr>
              <a:t>↗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024128" y="4700016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13B"/>
                </a:solidFill>
              </a:rPr>
              <a:t>Advertising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24128" y="500176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57E"/>
                </a:solidFill>
              </a:rPr>
              <a:t>Ad creatives • Campaign support • Audience-focused messaging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02920" y="5870448"/>
            <a:ext cx="3840480" cy="274320"/>
          </a:xfrm>
          <a:prstGeom prst="roundRect">
            <a:avLst>
              <a:gd name="adj" fmla="val 20000"/>
            </a:avLst>
          </a:prstGeom>
          <a:solidFill>
            <a:srgbClr val="EAF4FF">
              <a:alpha val="95000"/>
            </a:srgbClr>
          </a:solidFill>
          <a:ln w="12700">
            <a:solidFill>
              <a:srgbClr val="C9D9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6072" y="5934456"/>
            <a:ext cx="3694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98BCB"/>
                </a:solidFill>
              </a:rPr>
              <a:t>BRAND • CREATE • PROMOTE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98BC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13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NORTHBRIDGE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10512" y="31089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98BCB"/>
                </a:solidFill>
              </a:rPr>
              <a:t>TECH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53657E"/>
                </a:solidFill>
              </a:rPr>
              <a:t>OUR APPROACH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4712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3657E"/>
                </a:solidFill>
              </a:rPr>
              <a:t>10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02920" y="6446520"/>
            <a:ext cx="960120" cy="1"/>
          </a:xfrm>
          <a:prstGeom prst="line">
            <a:avLst/>
          </a:prstGeom>
          <a:noFill/>
          <a:ln w="12700">
            <a:solidFill>
              <a:srgbClr val="098B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33272"/>
            <a:ext cx="5897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13B"/>
                </a:solidFill>
              </a:rPr>
              <a:t>From conversation to launch.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1975104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57E"/>
                </a:solidFill>
              </a:rPr>
              <a:t>A simple process keeps the project clear, collaborative and focused.</a:t>
            </a:r>
            <a:endParaRPr lang="en-US" sz="1200" dirty="0"/>
          </a:p>
        </p:txBody>
      </p:sp>
      <p:pic>
        <p:nvPicPr>
          <p:cNvPr id="10" name="Image 0" descr="/mnt/data/fd32283959.png">    </p:cNvPr>
          <p:cNvPicPr>
            <a:picLocks noChangeAspect="1"/>
          </p:cNvPicPr>
          <p:nvPr/>
        </p:nvPicPr>
        <p:blipFill>
          <a:blip r:embed="rId1"/>
          <a:srcRect l="0" r="0" t="29406" b="29406"/>
          <a:stretch/>
        </p:blipFill>
        <p:spPr>
          <a:xfrm>
            <a:off x="502920" y="2606040"/>
            <a:ext cx="11155680" cy="30632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2920" y="2606040"/>
            <a:ext cx="11155680" cy="3063240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C9D9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" y="3063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98BCB"/>
                </a:solidFill>
              </a:rPr>
              <a:t>01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49808" y="34564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13B"/>
                </a:solidFill>
              </a:rPr>
              <a:t>DISCOVER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49808" y="38221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3657E"/>
                </a:solidFill>
              </a:rPr>
              <a:t>Understand your needs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423160" y="34107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750D8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926080" y="3063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98BCB"/>
                </a:solidFill>
              </a:rPr>
              <a:t>02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926080" y="34564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13B"/>
                </a:solidFill>
              </a:rPr>
              <a:t>PLAN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926080" y="38221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3657E"/>
                </a:solidFill>
              </a:rPr>
              <a:t>Define scope &amp; solution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599432" y="34107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750D8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02352" y="3063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98BCB"/>
                </a:solidFill>
              </a:rPr>
              <a:t>03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102352" y="34564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13B"/>
                </a:solidFill>
              </a:rPr>
              <a:t>DESIGN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102352" y="38221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3657E"/>
                </a:solidFill>
              </a:rPr>
              <a:t>Create the experience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775704" y="34107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750D8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278624" y="3063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98BCB"/>
                </a:solidFill>
              </a:rPr>
              <a:t>04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278624" y="34564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13B"/>
                </a:solidFill>
              </a:rPr>
              <a:t>BUILD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278624" y="38221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3657E"/>
                </a:solidFill>
              </a:rPr>
              <a:t>Develop &amp; integrate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951976" y="34107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750D8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9454896" y="3063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98BCB"/>
                </a:solidFill>
              </a:rPr>
              <a:t>05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9454896" y="34564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13B"/>
                </a:solidFill>
              </a:rPr>
              <a:t>LAUNCH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9454896" y="38221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3657E"/>
                </a:solidFill>
              </a:rPr>
              <a:t>Deploy &amp; support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02920" y="5907024"/>
            <a:ext cx="4069080" cy="274320"/>
          </a:xfrm>
          <a:prstGeom prst="roundRect">
            <a:avLst>
              <a:gd name="adj" fmla="val 20000"/>
            </a:avLst>
          </a:prstGeom>
          <a:solidFill>
            <a:srgbClr val="EAF4FF">
              <a:alpha val="95000"/>
            </a:srgbClr>
          </a:solidFill>
          <a:ln w="12700">
            <a:solidFill>
              <a:srgbClr val="C9D9E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76072" y="5971032"/>
            <a:ext cx="3922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98BCB"/>
                </a:solidFill>
              </a:rPr>
              <a:t>CLEAR GOALS + SMART TECHNOLOGY + CONTINUOUS SUPPORT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98BC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13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NORTHBRIDGE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10512" y="31089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98BCB"/>
                </a:solidFill>
              </a:rPr>
              <a:t>TECH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53657E"/>
                </a:solidFill>
              </a:rPr>
              <a:t>LET’S BUILD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4712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3657E"/>
                </a:solidFill>
              </a:rPr>
              <a:t>11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02920" y="6446520"/>
            <a:ext cx="960120" cy="1"/>
          </a:xfrm>
          <a:prstGeom prst="line">
            <a:avLst/>
          </a:prstGeom>
          <a:noFill/>
          <a:ln w="12700">
            <a:solidFill>
              <a:srgbClr val="098BCB"/>
            </a:solidFill>
            <a:prstDash val="solid"/>
          </a:ln>
        </p:spPr>
      </p:sp>
      <p:pic>
        <p:nvPicPr>
          <p:cNvPr id="8" name="Image 0" descr="/mnt/data/43a9b3cb95.png">    </p:cNvPr>
          <p:cNvPicPr>
            <a:picLocks noChangeAspect="1"/>
          </p:cNvPicPr>
          <p:nvPr/>
        </p:nvPicPr>
        <p:blipFill>
          <a:blip r:embed="rId1"/>
          <a:srcRect l="17867" r="17867" t="0" b="0"/>
          <a:stretch/>
        </p:blipFill>
        <p:spPr>
          <a:xfrm>
            <a:off x="5577840" y="0"/>
            <a:ext cx="6611112" cy="6858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37760" y="0"/>
            <a:ext cx="2103120" cy="68580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1261872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13B"/>
                </a:solidFill>
              </a:rPr>
              <a:t>Have an idea?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0213B"/>
                </a:solidFill>
              </a:rPr>
              <a:t>Let’s build it.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502920" y="27889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8BCB"/>
                </a:solidFill>
              </a:rPr>
              <a:t>Your idea. Our technology.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02920" y="336499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3657E"/>
                </a:solidFill>
              </a:rPr>
              <a:t>Web • Mobile • Cloud • UI/UX • Integrations • Digital Marketing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02920" y="4069080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EAF4FF">
              <a:alpha val="95000"/>
            </a:srgbClr>
          </a:solidFill>
          <a:ln w="12700">
            <a:solidFill>
              <a:srgbClr val="C9D9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6072" y="4133088"/>
            <a:ext cx="17739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98BCB"/>
                </a:solidFill>
              </a:rPr>
              <a:t>northbridgetech.group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502920" y="4709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B"/>
                </a:solidFill>
              </a:rPr>
              <a:t>Build. Connect. Scale.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iberatio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iberatio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NorthBridgeTech</Company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NorthBridgeTech Services</dc:title>
  <dc:subject>Professional services deck</dc:subject>
  <dc:creator>M365 Copilot</dc:creator>
  <lastModifiedBy>M365 Copilot</lastModifiedBy>
  <revision>1</revision>
  <dcterms:created xsi:type="dcterms:W3CDTF">2026-10-02T08:58:47.4686098Z</dcterms:created>
  <dcterms:modified xsi:type="dcterms:W3CDTF">2026-10-02T08:58:47.4686098Z</dcterms:modified>
</coreProperties>
</file>